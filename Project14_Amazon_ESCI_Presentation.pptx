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  <a:p>
            <a:pPr>
              <a:spcAft>
                <a:spcPts val="1400"/>
              </a:spcAft>
              <a:defRPr sz="4000" b="1">
                <a:solidFill>
                  <a:srgbClr val="1E1B4B"/>
                </a:solidFill>
              </a:defRPr>
            </a:pPr>
            <a:r>
              <a:t>Product Search using Amazon ESCI</a:t>
            </a:r>
          </a:p>
          <a:p>
            <a:pPr>
              <a:spcAft>
                <a:spcPts val="2800"/>
              </a:spcAft>
              <a:defRPr sz="1800">
                <a:solidFill>
                  <a:srgbClr val="64748B"/>
                </a:solidFill>
              </a:defRPr>
            </a:pPr>
            <a:r>
              <a:t>Multi-Paradigm IR Benchmark: TF-IDF, BM25, Sentence Transformers, and Hybrid RRF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Information Retrieval Course Project  |  Evaluation: Precision@10, Recall, MAP, nDCG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Goal &amp; Dataset Overview: Amazon ESCI Benchmark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1B4B"/>
                </a:solidFill>
              </a:defRPr>
            </a:pPr>
            <a:r>
              <a:t>Problem Statement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In e-commerce search, keyword matching alone fails to capture customer intent.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Amazon ESCI (Shopping Queries Dataset) is the gold standard benchmark released for KDD Cup 2022.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Contains difficult customer search queries paired with human relevance judgments.</a:t>
            </a:r>
          </a:p>
          <a:p>
            <a:pPr>
              <a:spcAft>
                <a:spcPts val="800"/>
              </a:spcAft>
              <a:defRPr sz="1300">
                <a:solidFill>
                  <a:srgbClr val="0F172A"/>
                </a:solidFill>
              </a:defRPr>
            </a:pPr>
            <a:r>
              <a:t>• Our mission: Build an end-to-end IR system evaluated under 4 standardized retrieval paradigms from raw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1">
                <a:solidFill>
                  <a:srgbClr val="1E1B4B"/>
                </a:solidFill>
              </a:defRPr>
            </a:pPr>
            <a:r>
              <a:t>The 4 Graded Relevance Levels (ESCI)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[E] Exact Match (Gain: 3.0)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The item is exactly what the customer searched for. (e.g., 'Nike shoes 10' -&gt; exact shoe &amp; size)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[S] Substitute (Gain: 2.0)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A functional replacement if the exact item is unavailable. (e.g., 'iPhone 13' -&gt; iPhone 14)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[C] Complement (Gain: 1.0)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An accessory or add-on product. (e.g., 'iPhone 13' -&gt; iPhone silicone case or charger)</a:t>
            </a:r>
          </a:p>
          <a:p>
            <a:pPr>
              <a:defRPr sz="1300" b="1">
                <a:solidFill>
                  <a:srgbClr val="4F46E5"/>
                </a:solidFill>
              </a:defRPr>
            </a:pPr>
            <a:r>
              <a:t>[I] Irrelevant (Gain: 0.0)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Completely off-topic product that fails user intent. (e.g., 'iPhone 13' -&gt; cat food)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Exploratory Data Analysis: Real-World Dataset Scale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2,621,288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Total Raw Judgments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429000" y="164592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601,354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English Task 1 Benchmark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26480" y="164592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29,844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Unique Search Queries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823960" y="1645920"/>
            <a:ext cx="256032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4F46E5"/>
                </a:solidFill>
              </a:defRPr>
            </a:pPr>
            <a:r>
              <a:t>482,105</a:t>
            </a:r>
          </a:p>
          <a:p>
            <a:pPr algn="ctr">
              <a:defRPr sz="1100" b="1">
                <a:solidFill>
                  <a:srgbClr val="0F172A"/>
                </a:solidFill>
              </a:defRPr>
            </a:pPr>
            <a:r>
              <a:t>Unique Catalog Products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800"/>
              </a:spcAft>
              <a:defRPr sz="1300" b="1">
                <a:solidFill>
                  <a:srgbClr val="1E1B4B"/>
                </a:solidFill>
              </a:defRPr>
            </a:pPr>
            <a:r>
              <a:t>• ESCI Class Distribution: </a:t>
            </a:r>
            <a:r>
              <a:rPr b="0">
                <a:solidFill>
                  <a:srgbClr val="0F172A"/>
                </a:solidFill>
              </a:rPr>
              <a:t>Exact (43.5%) and Substitute (35.1%) make up ~78.6% of annotations. Irrelevant is 16.9%, Complement is 4.5%. Graded nDCG is vital to reward placing Exact over Substitute.</a:t>
            </a:r>
          </a:p>
          <a:p>
            <a:pPr>
              <a:spcAft>
                <a:spcPts val="800"/>
              </a:spcAft>
              <a:defRPr sz="1300" b="1">
                <a:solidFill>
                  <a:srgbClr val="1E1B4B"/>
                </a:solidFill>
              </a:defRPr>
            </a:pPr>
            <a:r>
              <a:t>• Search Query Characteristics: </a:t>
            </a:r>
            <a:r>
              <a:rPr b="0">
                <a:solidFill>
                  <a:srgbClr val="0F172A"/>
                </a:solidFill>
              </a:rPr>
              <a:t>Customer queries are short and concise: Median = 3 words (90% of queries &lt;= 5 words). Exact keyword overlap alone leaves a semantic gap that dense models must bridge.</a:t>
            </a:r>
          </a:p>
          <a:p>
            <a:pPr>
              <a:spcAft>
                <a:spcPts val="800"/>
              </a:spcAft>
              <a:defRPr sz="1300" b="1">
                <a:solidFill>
                  <a:srgbClr val="1E1B4B"/>
                </a:solidFill>
              </a:defRPr>
            </a:pPr>
            <a:r>
              <a:t>• Product Catalog Richness: </a:t>
            </a:r>
            <a:r>
              <a:rPr b="0">
                <a:solidFill>
                  <a:srgbClr val="0F172A"/>
                </a:solidFill>
              </a:rPr>
              <a:t>Product titles average ~15 words and contain critical brand names, model numbers, and technical specifications, making them the ideal primary feature for high-speed indexing.</a:t>
            </a:r>
          </a:p>
          <a:p>
            <a:pPr>
              <a:spcAft>
                <a:spcPts val="800"/>
              </a:spcAft>
              <a:defRPr sz="1300" b="1">
                <a:solidFill>
                  <a:srgbClr val="1E1B4B"/>
                </a:solidFill>
              </a:defRPr>
            </a:pPr>
            <a:r>
              <a:t>• Dedicated Jupyter Notebook: </a:t>
            </a:r>
            <a:r>
              <a:rPr b="0">
                <a:solidFill>
                  <a:srgbClr val="0F172A"/>
                </a:solidFill>
              </a:rPr>
              <a:t>All distributions, quartiles, and Seaborn charts are pre-rendered in 'notebooks/01_eda_and_data_inspection.ipynb' for full reproducibility.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Text Preprocessing Pipeline (Built 100% From Scratch)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1. HTML &amp; Noise Stripping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Strips tags (&lt;p&gt;, &lt;b&gt;, &lt;div&gt;), unescapes entities (&amp;amp; -&gt; &amp;), normalizes Unicode NFKD, lowercases, cleans delimiters.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0604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2. Alphanumeric Tokenizer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Regex-based token extraction that preserves hardware specs and dimensions ('128gb', '4k', '12.9', 'g502').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3. Stop-Word Removal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Prunes high-frequency English noise tokens ('the', 'for', 'in') while preserving e-commerce search intent.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526280"/>
            <a:ext cx="10698480" cy="86868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4F46E5"/>
                </a:solidFill>
              </a:defRPr>
            </a:pPr>
            <a:r>
              <a:t>4. Porter Stemming</a:t>
            </a:r>
          </a:p>
          <a:p>
            <a:pPr>
              <a:defRPr sz="1100">
                <a:solidFill>
                  <a:srgbClr val="0F172A"/>
                </a:solidFill>
              </a:defRPr>
            </a:pPr>
            <a:r>
              <a:t>Applies Porter's algorithmic suffix-stripping rules: 'running' -&gt; 'run', 'headphones' -&gt; 'headphon', 'tested' -&gt; 'test'.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57784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B981"/>
                </a:solidFill>
              </a:defRPr>
            </a:pPr>
            <a:r>
              <a:t>✔ Automated Test Suite: 7 unit tests in tests/test_preprocessing.py pass with 100% OK in 0.003s.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The Four Core Ranking Paradigms Evaluated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Model 1: TF-IDF (Vector Space)</a:t>
            </a:r>
          </a:p>
          <a:p>
            <a:pPr>
              <a:spcAft>
                <a:spcPts val="400"/>
              </a:spcAft>
              <a:defRPr sz="1050" b="1">
                <a:solidFill>
                  <a:srgbClr val="64748B"/>
                </a:solidFill>
              </a:defRPr>
            </a:pPr>
            <a:r>
              <a:t>Classical VSM with Cosine Similarity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Computes Term Frequency * Inverse Document Frequency.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Sublinear scaling: tf = 1 + log(tf).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Cosine similarity against high-dimensional sparse query vector.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Fast, strict baseline for exact keyword matches.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26480" y="164592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Model 2: BM25 (Probabilistic)</a:t>
            </a:r>
          </a:p>
          <a:p>
            <a:pPr>
              <a:spcAft>
                <a:spcPts val="400"/>
              </a:spcAft>
              <a:defRPr sz="1050" b="1">
                <a:solidFill>
                  <a:srgbClr val="64748B"/>
                </a:solidFill>
              </a:defRPr>
            </a:pPr>
            <a:r>
              <a:t>Okapi BM25 Ranking Framework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Term frequency saturation with constant k1 = 1.5.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Document length normalization with constant b = 0.75.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Penalizes bloated titles while rewarding rare query terms.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Gold standard sparse IR baseline.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Model 3: Sentence Transformer</a:t>
            </a:r>
          </a:p>
          <a:p>
            <a:pPr>
              <a:spcAft>
                <a:spcPts val="400"/>
              </a:spcAft>
              <a:defRPr sz="1050" b="1">
                <a:solidFill>
                  <a:srgbClr val="64748B"/>
                </a:solidFill>
              </a:defRPr>
            </a:pPr>
            <a:r>
              <a:t>Dense Semantic Vector Retrieval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Encodes text using 'all-MiniLM-L6-v2' into 384-dim space.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L2-normalized vectors (inner product = cosine similarity).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Bridges vocabulary mismatch (e.g. 'jogging' matches 'running').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Infers category semantics without exact lexical overlap.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26480" y="3931920"/>
            <a:ext cx="521208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50" b="1">
                <a:solidFill>
                  <a:srgbClr val="4F46E5"/>
                </a:solidFill>
              </a:defRPr>
            </a:pPr>
            <a:r>
              <a:t>Model 4: Hybrid RRF</a:t>
            </a:r>
          </a:p>
          <a:p>
            <a:pPr>
              <a:spcAft>
                <a:spcPts val="400"/>
              </a:spcAft>
              <a:defRPr sz="1050" b="1">
                <a:solidFill>
                  <a:srgbClr val="64748B"/>
                </a:solidFill>
              </a:defRPr>
            </a:pPr>
            <a:r>
              <a:t>Reciprocal Rank Fusion (Sparse + Dense)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Formula: RRF_Score(d) = sum [ w_m / (k + rank_m(d)) ].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Smoothing constant k = 60; weights = 1.0 each for BM25 and Dense.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Solves score-mismatch problem (BM25 log-odds vs Cosine).</a:t>
            </a:r>
          </a:p>
          <a:p>
            <a:pPr>
              <a:defRPr sz="1000">
                <a:solidFill>
                  <a:srgbClr val="0F172A"/>
                </a:solidFill>
              </a:defRPr>
            </a:pPr>
            <a:r>
              <a:t>• Combines keyword precision with semantic depth.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Quantitative Benchmark: Standardized Comparison Table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9696"/>
                <a:gridCol w="2139696"/>
                <a:gridCol w="2139696"/>
                <a:gridCol w="2139696"/>
                <a:gridCol w="2139696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1200" b="1">
                          <a:solidFill>
                            <a:srgbClr val="1E1B4B"/>
                          </a:solidFill>
                        </a:defRPr>
                      </a:pPr>
                      <a:r>
                        <a:t>Ranking Model Paradigm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B4B"/>
                          </a:solidFill>
                        </a:defRPr>
                      </a:pPr>
                      <a:r>
                        <a:t>Precision@10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B4B"/>
                          </a:solidFill>
                        </a:defRPr>
                      </a:pPr>
                      <a:r>
                        <a:t>Recall@10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B4B"/>
                          </a:solidFill>
                        </a:defRPr>
                      </a:pPr>
                      <a:r>
                        <a:t>MAP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E1B4B"/>
                          </a:solidFill>
                        </a:defRPr>
                      </a:pPr>
                      <a:r>
                        <a:t>Graded nDCG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TF-IDF (Vector Space)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0.8364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0.5992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0.8804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0.7812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BM25 (Probabilistic Okapi)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0.8372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0.5994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0.8794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0.7815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Sentence Transformer (MiniLM)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0.8516 (Best)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0.6115 (Best)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0.8932 (Best)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0.7923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Hybrid (RRF - Sparse + Dense)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0.8480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0.6097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0F172A"/>
                          </a:solidFill>
                        </a:defRPr>
                      </a:pPr>
                      <a:r>
                        <a:t>0.8896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5803D"/>
                          </a:solidFill>
                        </a:defRPr>
                      </a:pPr>
                      <a:r>
                        <a:t>0.7984 (Best)</a:t>
                      </a:r>
                    </a:p>
                  </a:txBody>
                  <a:tcPr>
                    <a:solidFill>
                      <a:srgbClr val="DCFCE7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2976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E1B4B"/>
                </a:solidFill>
              </a:defRPr>
            </a:pPr>
            <a:r>
              <a:t>Key Empirical Takeaways: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✔ Hybrid RRF wins on Graded nDCG (0.7984): Fusing lexical precision (BM25) with semantic depth puts Exact matches (E=3) at top rank.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✔ Sentence Transformer dominates Precision@10 (0.8516) and MAP (0.8932): Overcomes synonymy and complex phrasing.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✔ BM25 outperforms TF-IDF on precision and nDCG: Document length normalization avoids penalizing descriptive product titles.</a:t>
            </a:r>
          </a:p>
          <a:p>
            <a:pPr>
              <a:spcAft>
                <a:spcPts val="400"/>
              </a:spcAft>
              <a:defRPr sz="1200">
                <a:solidFill>
                  <a:srgbClr val="0F172A"/>
                </a:solidFill>
              </a:defRPr>
            </a:pPr>
            <a:r>
              <a:t>✔ Strict ESCI Gain Alignment: Relevance scheme (E=3, S=2, C=1, I=0) rewards models that prioritize exact replacements.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11-Point Interpolated Precision-Recall Curves</a:t>
            </a:r>
          </a:p>
        </p:txBody>
      </p:sp>
      <p:pic>
        <p:nvPicPr>
          <p:cNvPr id="4" name="Picture 3" descr="precision_recall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45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132320" y="1645920"/>
            <a:ext cx="42976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1B4B"/>
                </a:solidFill>
              </a:defRPr>
            </a:pPr>
            <a:r>
              <a:t>Curve Diagnostics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High-Precision Zone (Recall 0.0 - 0.4):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Dense Sentence Transformer maintains precision &gt; 0.88 by understanding contextual synonyms immediately.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Mid-Recall Cross-over (Recall 0.4 - 0.7):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Hybrid RRF tracks the upper envelope of both sparse and dense paradigms, avoiding lexical drop-offs.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Tail Recall Behavior: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All four paradigms converge smoothly as recall approaches 1.0, proving consistent retrieval stability across queries.</a:t>
            </a:r>
          </a:p>
          <a:p>
            <a:pPr>
              <a:defRPr sz="1200" b="1">
                <a:solidFill>
                  <a:srgbClr val="4F46E5"/>
                </a:solidFill>
              </a:defRPr>
            </a:pPr>
            <a:r>
              <a:t>• Standardized Protocol:</a:t>
            </a:r>
          </a:p>
          <a:p>
            <a:pPr>
              <a:spcAft>
                <a:spcPts val="600"/>
              </a:spcAft>
              <a:defRPr sz="1100">
                <a:solidFill>
                  <a:srgbClr val="0F172A"/>
                </a:solidFill>
              </a:defRPr>
            </a:pPr>
            <a:r>
              <a:t>Computed using standard 11-point interpolation: p_interp(r) = max_{r' &gt;= r} p(r').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Production Architecture: Decoupled FastAPI + SPA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1206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1B4B"/>
                </a:solidFill>
              </a:defRPr>
            </a:pPr>
            <a:r>
              <a:t>Backend: FastAPI REST Engine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Zero Reload Overhead: Precomputed 384-dim embedding cache (data/embeddings_cache.npy) boots in 0.02s.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Clean REST Contracts: /api/search, /api/compare, /api/metrics, /api/eda.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Interactive Swagger Docs: Built-in OpenAPI explorer at /docs for team collaboration.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CORS Enabled: Ready for any frontend stack (React, Next.js, Vue, or Vanilla JS).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1B4B"/>
                </a:solidFill>
              </a:defRPr>
            </a:pPr>
            <a:r>
              <a:t>Frontend: Ultra-Responsive Web UI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Live Search &amp; Model Switcher: Instant query testing across all 4 paradigms.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Side-by-Side 4-Model Comparison: Evaluates all 4 paradigms concurrently in parallel columns.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Scratch Preprocessing Inspector: Live visualization of HTML cleaning, tokens, stop-words, and Porter stems.</a:t>
            </a:r>
          </a:p>
          <a:p>
            <a:pPr>
              <a:spcAft>
                <a:spcPts val="600"/>
              </a:spcAft>
              <a:defRPr sz="1150">
                <a:solidFill>
                  <a:srgbClr val="0F172A"/>
                </a:solidFill>
              </a:defRPr>
            </a:pPr>
            <a:r>
              <a:t>• Sub-second Latency: Instant rendering with zero build-tool bloat.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4F46E5"/>
                </a:solidFill>
              </a:defRPr>
            </a:pPr>
            <a:r>
              <a:t>PROJECT 14: E-COMMERCE 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1E1B4B"/>
                </a:solidFill>
              </a:defRPr>
            </a:pPr>
            <a:r>
              <a:t>Conclusion &amp; Project Deliverables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69848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1">
                <a:solidFill>
                  <a:srgbClr val="1E1B4B"/>
                </a:solidFill>
              </a:defRPr>
            </a:pPr>
            <a:r>
              <a:t>All Teacher Requirements Fully Satisfied:</a:t>
            </a:r>
          </a:p>
          <a:p>
            <a:pPr>
              <a:spcAft>
                <a:spcPts val="600"/>
              </a:spcAft>
              <a:defRPr sz="1250" b="1">
                <a:solidFill>
                  <a:srgbClr val="4F46E5"/>
                </a:solidFill>
              </a:defRPr>
            </a:pPr>
            <a:r>
              <a:t>✔ True Official Dataset: </a:t>
            </a:r>
            <a:r>
              <a:rPr b="0">
                <a:solidFill>
                  <a:srgbClr val="0F172A"/>
                </a:solidFill>
              </a:rPr>
              <a:t>Ingested untouched Amazon ESCI dataset with 2.6M raw judgments.</a:t>
            </a:r>
          </a:p>
          <a:p>
            <a:pPr>
              <a:spcAft>
                <a:spcPts val="600"/>
              </a:spcAft>
              <a:defRPr sz="1250" b="1">
                <a:solidFill>
                  <a:srgbClr val="4F46E5"/>
                </a:solidFill>
              </a:defRPr>
            </a:pPr>
            <a:r>
              <a:t>✔ Dedicated EDA Notebook: </a:t>
            </a:r>
            <a:r>
              <a:rPr b="0">
                <a:solidFill>
                  <a:srgbClr val="0F172A"/>
                </a:solidFill>
              </a:rPr>
              <a:t>Pre-rendered 01_eda_and_data_inspection.ipynb with class balance &amp; distributions.</a:t>
            </a:r>
          </a:p>
          <a:p>
            <a:pPr>
              <a:spcAft>
                <a:spcPts val="600"/>
              </a:spcAft>
              <a:defRPr sz="1250" b="1">
                <a:solidFill>
                  <a:srgbClr val="4F46E5"/>
                </a:solidFill>
              </a:defRPr>
            </a:pPr>
            <a:r>
              <a:t>✔ 100% From-Scratch Preprocessing: </a:t>
            </a:r>
            <a:r>
              <a:rPr b="0">
                <a:solidFill>
                  <a:srgbClr val="0F172A"/>
                </a:solidFill>
              </a:rPr>
              <a:t>Custom cleaning, tokenization, stop-words, and Porter stemming (7/7 unit tests passing).</a:t>
            </a:r>
          </a:p>
          <a:p>
            <a:pPr>
              <a:spcAft>
                <a:spcPts val="600"/>
              </a:spcAft>
              <a:defRPr sz="1250" b="1">
                <a:solidFill>
                  <a:srgbClr val="4F46E5"/>
                </a:solidFill>
              </a:defRPr>
            </a:pPr>
            <a:r>
              <a:t>✔ 4 Distinct Ranking Paradigms: </a:t>
            </a:r>
            <a:r>
              <a:rPr b="0">
                <a:solidFill>
                  <a:srgbClr val="0F172A"/>
                </a:solidFill>
              </a:rPr>
              <a:t>TF-IDF, BM25, Sentence Transformer, and Hybrid RRF (5/5 unit tests passing).</a:t>
            </a:r>
          </a:p>
          <a:p>
            <a:pPr>
              <a:spcAft>
                <a:spcPts val="600"/>
              </a:spcAft>
              <a:defRPr sz="1250" b="1">
                <a:solidFill>
                  <a:srgbClr val="4F46E5"/>
                </a:solidFill>
              </a:defRPr>
            </a:pPr>
            <a:r>
              <a:t>✔ Standardized IR Evaluation: </a:t>
            </a:r>
            <a:r>
              <a:rPr b="0">
                <a:solidFill>
                  <a:srgbClr val="0F172A"/>
                </a:solidFill>
              </a:rPr>
              <a:t>Precision@10, Recall, MAP, nDCG, and 11-point Precision-Recall curve graph.</a:t>
            </a:r>
          </a:p>
          <a:p>
            <a:pPr>
              <a:spcAft>
                <a:spcPts val="600"/>
              </a:spcAft>
              <a:defRPr sz="1250" b="1">
                <a:solidFill>
                  <a:srgbClr val="4F46E5"/>
                </a:solidFill>
              </a:defRPr>
            </a:pPr>
            <a:r>
              <a:t>✔ Interactive Search Interface: </a:t>
            </a:r>
            <a:r>
              <a:rPr b="0">
                <a:solidFill>
                  <a:srgbClr val="0F172A"/>
                </a:solidFill>
              </a:rPr>
              <a:t>Decoupled FastAPI + lightweight Web UI with side-by-side model comparison.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